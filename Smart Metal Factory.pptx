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8" r:id="rId6"/>
    <p:sldId id="281" r:id="rId7"/>
    <p:sldId id="282" r:id="rId8"/>
    <p:sldId id="279" r:id="rId9"/>
    <p:sldId id="283" r:id="rId10"/>
    <p:sldId id="280" r:id="rId11"/>
    <p:sldId id="288" r:id="rId12"/>
    <p:sldId id="284" r:id="rId13"/>
    <p:sldId id="285" r:id="rId14"/>
    <p:sldId id="287" r:id="rId15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223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5CEB73A-EAD8-4600-A937-149261040EA7}" type="datetime1">
              <a:rPr lang="it-IT" smtClean="0"/>
              <a:t>04/02/2026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9578EB8-0800-413D-B171-4C9FED7732A0}" type="datetime1">
              <a:rPr lang="it-IT" noProof="0" smtClean="0"/>
              <a:t>04/02/2026</a:t>
            </a:fld>
            <a:endParaRPr lang="it-IT" noProof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6BDBC-4A2C-40C8-3364-AAC301315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005B465-2CA8-85F9-D3A6-5D7BE1E47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7C86038-5618-D058-0841-48EDAB1A6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EB04117-3F7E-F482-EC2D-73CD2C7F20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5205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238A2-8CCE-9967-5263-0D218BEDD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CE677C8-4B22-C1EA-5DE2-1538712161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DC89F79-1130-7228-F8EC-5260A445F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0EE2F1-D04F-6B4E-8F9B-FE6FA2A2A6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4188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1" name="Oval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B38DECDD-C56B-4B99-815C-4DC374BD0502}" type="datetime1">
              <a:rPr lang="it-IT" noProof="0" smtClean="0"/>
              <a:t>04/02/2026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8" name="Connettore dirit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2CFC9B-8199-4464-9645-214B6EFF3046}" type="datetime1">
              <a:rPr lang="it-IT" noProof="0" smtClean="0"/>
              <a:t>04/02/2026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8EC901-D7B4-418A-90B0-E5FCBA6FFEA7}" type="datetime1">
              <a:rPr lang="it-IT" noProof="0" smtClean="0"/>
              <a:t>04/02/2026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8" name="Connettore dirit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B961D9-E81B-44AF-B812-435DD72BA78F}" type="datetime1">
              <a:rPr lang="it-IT" noProof="0" smtClean="0"/>
              <a:t>04/02/2026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FF653A-F944-4ACA-BE4F-5261464A4CE1}" type="datetime1">
              <a:rPr lang="it-IT" noProof="0" smtClean="0"/>
              <a:t>04/02/2026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B835D5-4872-4F83-9549-4195BD19C9E7}" type="datetime1">
              <a:rPr lang="it-IT" noProof="0" smtClean="0"/>
              <a:t>04/02/2026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5AFA1D-B403-4233-93F5-9C17BC134037}" type="datetime1">
              <a:rPr lang="it-IT" noProof="0" smtClean="0"/>
              <a:t>04/02/2026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037F34-7F89-47FC-B829-DD18E8CE430E}" type="datetime1">
              <a:rPr lang="it-IT" noProof="0" smtClean="0"/>
              <a:t>04/02/2026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945EFA-1B37-428A-B390-4F21411152A4}" type="datetime1">
              <a:rPr lang="it-IT" noProof="0" smtClean="0"/>
              <a:t>04/02/2026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8" name="Connettore dirit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91270D5-CA2E-4CCE-B3E3-1ED4C617F5FD}" type="datetime1">
              <a:rPr lang="it-IT" noProof="0" smtClean="0"/>
              <a:t>04/02/2026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D02021-081D-4BCD-8619-111A80C86AA4}" type="datetime1">
              <a:rPr lang="it-IT" noProof="0" smtClean="0"/>
              <a:t>04/02/2026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7" name="Connettore diritto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A6877D91-AE2A-4013-A171-54DDAEEA4374}" type="datetime1">
              <a:rPr lang="it-IT" noProof="0" smtClean="0"/>
              <a:t>04/02/2026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 rtl="0"/>
              <a:t>‹N›</a:t>
            </a:fld>
            <a:endParaRPr lang="it-IT" noProof="0"/>
          </a:p>
        </p:txBody>
      </p:sp>
      <p:cxnSp>
        <p:nvCxnSpPr>
          <p:cNvPr id="7" name="Connettore diritto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ttangolo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l"/>
            <a:r>
              <a:rPr lang="it-IT" dirty="0">
                <a:solidFill>
                  <a:srgbClr val="FFFFFF"/>
                </a:solidFill>
              </a:rPr>
              <a:t>Smart Metal </a:t>
            </a:r>
            <a:r>
              <a:rPr lang="it-IT" dirty="0" err="1">
                <a:solidFill>
                  <a:srgbClr val="FFFFFF"/>
                </a:solidFill>
              </a:rPr>
              <a:t>factory</a:t>
            </a:r>
            <a:endParaRPr lang="it-IT" dirty="0">
              <a:solidFill>
                <a:srgbClr val="FFFFFF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rtlCol="0" anchor="t">
            <a:normAutofit/>
          </a:bodyPr>
          <a:lstStyle/>
          <a:p>
            <a:pPr rtl="0"/>
            <a:r>
              <a:rPr lang="it-IT" dirty="0" err="1">
                <a:solidFill>
                  <a:srgbClr val="FFFFFF"/>
                </a:solidFill>
              </a:rPr>
              <a:t>Intelligent</a:t>
            </a:r>
            <a:r>
              <a:rPr lang="it-IT" dirty="0">
                <a:solidFill>
                  <a:srgbClr val="FFFFFF"/>
                </a:solidFill>
              </a:rPr>
              <a:t> Internet of </a:t>
            </a:r>
            <a:r>
              <a:rPr lang="it-IT" dirty="0" err="1">
                <a:solidFill>
                  <a:srgbClr val="FFFFFF"/>
                </a:solidFill>
              </a:rPr>
              <a:t>Things</a:t>
            </a:r>
            <a:r>
              <a:rPr lang="it-IT" dirty="0">
                <a:solidFill>
                  <a:srgbClr val="FFFFFF"/>
                </a:solidFill>
              </a:rPr>
              <a:t> project</a:t>
            </a:r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1F4428-DFA4-99F0-C321-7E2A67CB1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Scenario applicativo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4C2161-48CB-E073-F476-22C64F57C6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Simulazione</a:t>
            </a:r>
          </a:p>
          <a:p>
            <a:endParaRPr lang="it-IT" dirty="0"/>
          </a:p>
          <a:p>
            <a:r>
              <a:rPr lang="it-IT" b="1" dirty="0"/>
              <a:t>Obbiettivo</a:t>
            </a:r>
            <a:endParaRPr lang="it-IT" dirty="0"/>
          </a:p>
        </p:txBody>
      </p:sp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877082EE-C8B1-CE3C-D749-5E28066EB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6153" y="3554963"/>
            <a:ext cx="2872430" cy="2108718"/>
          </a:xfrm>
        </p:spPr>
        <p:txBody>
          <a:bodyPr/>
          <a:lstStyle/>
          <a:p>
            <a:br>
              <a:rPr lang="it-IT" dirty="0"/>
            </a:br>
            <a:r>
              <a:rPr lang="it-IT" dirty="0"/>
              <a:t>monitoraggio in tempo reale delle isole produttive</a:t>
            </a:r>
          </a:p>
        </p:txBody>
      </p:sp>
      <p:sp>
        <p:nvSpPr>
          <p:cNvPr id="4" name="Freccia a destra 3">
            <a:extLst>
              <a:ext uri="{FF2B5EF4-FFF2-40B4-BE49-F238E27FC236}">
                <a16:creationId xmlns:a16="http://schemas.microsoft.com/office/drawing/2014/main" id="{7DA36CE1-5901-14D0-DAEC-984BEF0C086A}"/>
              </a:ext>
            </a:extLst>
          </p:cNvPr>
          <p:cNvSpPr/>
          <p:nvPr/>
        </p:nvSpPr>
        <p:spPr>
          <a:xfrm>
            <a:off x="2696547" y="2397967"/>
            <a:ext cx="578498" cy="2519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Freccia a destra 4">
            <a:extLst>
              <a:ext uri="{FF2B5EF4-FFF2-40B4-BE49-F238E27FC236}">
                <a16:creationId xmlns:a16="http://schemas.microsoft.com/office/drawing/2014/main" id="{9A78EA22-04EC-34B8-5FC5-45EC60B6632F}"/>
              </a:ext>
            </a:extLst>
          </p:cNvPr>
          <p:cNvSpPr/>
          <p:nvPr/>
        </p:nvSpPr>
        <p:spPr>
          <a:xfrm>
            <a:off x="2491273" y="3303037"/>
            <a:ext cx="578498" cy="2519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D1901F61-CC2F-A0BF-BC35-3F6A177FE46E}"/>
              </a:ext>
            </a:extLst>
          </p:cNvPr>
          <p:cNvSpPr txBox="1">
            <a:spLocks/>
          </p:cNvSpPr>
          <p:nvPr/>
        </p:nvSpPr>
        <p:spPr>
          <a:xfrm>
            <a:off x="3275045" y="2304661"/>
            <a:ext cx="6794925" cy="475861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ambiente industriale dedicato alla lavorazione dei metalli.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C4694B9E-5E8F-DD95-973F-4EFBA94373E4}"/>
              </a:ext>
            </a:extLst>
          </p:cNvPr>
          <p:cNvSpPr txBox="1">
            <a:spLocks/>
          </p:cNvSpPr>
          <p:nvPr/>
        </p:nvSpPr>
        <p:spPr>
          <a:xfrm>
            <a:off x="3275045" y="3261796"/>
            <a:ext cx="3230631" cy="2108718"/>
          </a:xfrm>
          <a:prstGeom prst="rect">
            <a:avLst/>
          </a:prstGeom>
        </p:spPr>
        <p:txBody>
          <a:bodyPr vert="horz" lIns="45720" tIns="45720" rIns="4572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0000"/>
              </a:buClr>
              <a:buNone/>
            </a:pPr>
            <a:r>
              <a:rPr lang="it-IT" dirty="0"/>
              <a:t>ottimizzazione di 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it-IT" dirty="0"/>
              <a:t> gestione degli scarti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it-IT" dirty="0"/>
              <a:t> qualità del refrigerante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it-IT" dirty="0"/>
              <a:t> flusso dei materiali su nastri trasportatori.</a:t>
            </a:r>
          </a:p>
          <a:p>
            <a:endParaRPr lang="it-IT" dirty="0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E325B1FD-0F2A-E79D-03EF-3FE6E4643B27}"/>
              </a:ext>
            </a:extLst>
          </p:cNvPr>
          <p:cNvSpPr/>
          <p:nvPr/>
        </p:nvSpPr>
        <p:spPr>
          <a:xfrm>
            <a:off x="6383258" y="4190192"/>
            <a:ext cx="578498" cy="25192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6063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71307-1F4E-6928-DE0F-8C62E414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E826B4-6B5A-3B1F-D803-926F6EC93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ARCHITETTURA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1900D5-1E16-31CC-83FA-08C0D55BA0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Livello fisico</a:t>
            </a:r>
          </a:p>
          <a:p>
            <a:endParaRPr lang="it-IT" dirty="0"/>
          </a:p>
          <a:p>
            <a:r>
              <a:rPr lang="it-IT" b="1" dirty="0"/>
              <a:t>Livello </a:t>
            </a:r>
            <a:r>
              <a:rPr lang="it-IT" b="1" dirty="0" err="1"/>
              <a:t>edge</a:t>
            </a:r>
            <a:r>
              <a:rPr lang="it-IT" b="1" dirty="0"/>
              <a:t>/server</a:t>
            </a:r>
          </a:p>
          <a:p>
            <a:endParaRPr lang="it-IT" b="1" dirty="0"/>
          </a:p>
          <a:p>
            <a:r>
              <a:rPr lang="it-IT" b="1" dirty="0"/>
              <a:t>Livello controllo</a:t>
            </a:r>
          </a:p>
        </p:txBody>
      </p:sp>
      <p:sp>
        <p:nvSpPr>
          <p:cNvPr id="4" name="Freccia a destra 3">
            <a:extLst>
              <a:ext uri="{FF2B5EF4-FFF2-40B4-BE49-F238E27FC236}">
                <a16:creationId xmlns:a16="http://schemas.microsoft.com/office/drawing/2014/main" id="{66F5401C-C316-519F-FC0A-45AEFCADF0DC}"/>
              </a:ext>
            </a:extLst>
          </p:cNvPr>
          <p:cNvSpPr/>
          <p:nvPr/>
        </p:nvSpPr>
        <p:spPr>
          <a:xfrm>
            <a:off x="2696547" y="2396009"/>
            <a:ext cx="578498" cy="2519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Freccia a destra 4">
            <a:extLst>
              <a:ext uri="{FF2B5EF4-FFF2-40B4-BE49-F238E27FC236}">
                <a16:creationId xmlns:a16="http://schemas.microsoft.com/office/drawing/2014/main" id="{AE67B963-A43E-511C-14F3-1004AC04E3B3}"/>
              </a:ext>
            </a:extLst>
          </p:cNvPr>
          <p:cNvSpPr/>
          <p:nvPr/>
        </p:nvSpPr>
        <p:spPr>
          <a:xfrm>
            <a:off x="3489648" y="3360514"/>
            <a:ext cx="578498" cy="2519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A78AB2B4-F767-0995-0FC2-F2AE42114473}"/>
              </a:ext>
            </a:extLst>
          </p:cNvPr>
          <p:cNvSpPr txBox="1">
            <a:spLocks/>
          </p:cNvSpPr>
          <p:nvPr/>
        </p:nvSpPr>
        <p:spPr>
          <a:xfrm>
            <a:off x="3275045" y="2293651"/>
            <a:ext cx="7249886" cy="70856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Macchinari (presse, nastri, vasche) con una propria fisica.</a:t>
            </a:r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62BCB83D-92CE-20F9-047C-BB3478C14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81919" y="3245747"/>
            <a:ext cx="7249886" cy="850392"/>
          </a:xfrm>
        </p:spPr>
        <p:txBody>
          <a:bodyPr/>
          <a:lstStyle/>
          <a:p>
            <a:r>
              <a:rPr lang="it-IT" dirty="0"/>
              <a:t>Ogni macchina viene esposta come una risorsa </a:t>
            </a:r>
            <a:r>
              <a:rPr lang="it-IT" dirty="0" err="1"/>
              <a:t>CoAP</a:t>
            </a:r>
            <a:r>
              <a:rPr lang="it-IT" dirty="0"/>
              <a:t>. Il server utilizza </a:t>
            </a:r>
            <a:r>
              <a:rPr lang="it-IT" dirty="0" err="1"/>
              <a:t>digital</a:t>
            </a:r>
            <a:r>
              <a:rPr lang="it-IT" dirty="0"/>
              <a:t> twins per simulazioni in tempo reale con report</a:t>
            </a:r>
          </a:p>
        </p:txBody>
      </p:sp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781CEABE-D699-D07C-B3AC-E82EA5BFADE8}"/>
              </a:ext>
            </a:extLst>
          </p:cNvPr>
          <p:cNvSpPr/>
          <p:nvPr/>
        </p:nvSpPr>
        <p:spPr>
          <a:xfrm>
            <a:off x="3112318" y="4297680"/>
            <a:ext cx="578498" cy="2519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Segnaposto contenuto 10">
            <a:extLst>
              <a:ext uri="{FF2B5EF4-FFF2-40B4-BE49-F238E27FC236}">
                <a16:creationId xmlns:a16="http://schemas.microsoft.com/office/drawing/2014/main" id="{985A629D-BA09-79A2-3711-95EA3FFECE4A}"/>
              </a:ext>
            </a:extLst>
          </p:cNvPr>
          <p:cNvSpPr txBox="1">
            <a:spLocks/>
          </p:cNvSpPr>
          <p:nvPr/>
        </p:nvSpPr>
        <p:spPr>
          <a:xfrm>
            <a:off x="3690816" y="4230593"/>
            <a:ext cx="7249886" cy="85039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Il manager monitora i sensori e prende decisioni accendendo o spegnendo gli attuatori basandosi sulla Policy.</a:t>
            </a:r>
          </a:p>
        </p:txBody>
      </p:sp>
    </p:spTree>
    <p:extLst>
      <p:ext uri="{BB962C8B-B14F-4D97-AF65-F5344CB8AC3E}">
        <p14:creationId xmlns:p14="http://schemas.microsoft.com/office/powerpoint/2010/main" val="3735203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621D33-FEEF-FB05-FDFA-012CA7946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Scelta di modellazione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239B60-9F11-A071-4907-1C403D6D4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8" y="1884784"/>
            <a:ext cx="9836706" cy="681135"/>
          </a:xfrm>
        </p:spPr>
        <p:txBody>
          <a:bodyPr/>
          <a:lstStyle/>
          <a:p>
            <a:r>
              <a:rPr lang="it-IT" dirty="0"/>
              <a:t>Separazione logica fisica da interfaccia di rete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B32272-6839-413E-A77A-8AD39B269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4127" y="2565919"/>
            <a:ext cx="10349889" cy="3545632"/>
          </a:xfrm>
        </p:spPr>
        <p:txBody>
          <a:bodyPr/>
          <a:lstStyle/>
          <a:p>
            <a:r>
              <a:rPr lang="it-IT" b="1" dirty="0"/>
              <a:t>Smart Objects </a:t>
            </a:r>
            <a:r>
              <a:rPr lang="it-IT" dirty="0"/>
              <a:t>(model/)</a:t>
            </a:r>
          </a:p>
          <a:p>
            <a:endParaRPr lang="it-IT" dirty="0"/>
          </a:p>
          <a:p>
            <a:r>
              <a:rPr lang="it-IT" b="1" dirty="0"/>
              <a:t>Risorse </a:t>
            </a:r>
            <a:r>
              <a:rPr lang="it-IT" b="1" dirty="0" err="1"/>
              <a:t>CoAP</a:t>
            </a:r>
            <a:r>
              <a:rPr lang="it-IT" b="1" dirty="0"/>
              <a:t> </a:t>
            </a:r>
            <a:r>
              <a:rPr lang="it-IT" dirty="0"/>
              <a:t>(</a:t>
            </a:r>
            <a:r>
              <a:rPr lang="it-IT" dirty="0" err="1"/>
              <a:t>resources</a:t>
            </a:r>
            <a:r>
              <a:rPr lang="it-IT" dirty="0"/>
              <a:t>/)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Perché? Se si volesse cambiare protocollo si dovrebbe cambiare solo la cartella </a:t>
            </a:r>
            <a:r>
              <a:rPr lang="it-IT" dirty="0" err="1"/>
              <a:t>resources</a:t>
            </a:r>
            <a:r>
              <a:rPr lang="it-IT" dirty="0"/>
              <a:t>/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5" name="Freccia a destra 4">
            <a:extLst>
              <a:ext uri="{FF2B5EF4-FFF2-40B4-BE49-F238E27FC236}">
                <a16:creationId xmlns:a16="http://schemas.microsoft.com/office/drawing/2014/main" id="{FB4B405A-FFD8-BB65-1591-9251DC1710C7}"/>
              </a:ext>
            </a:extLst>
          </p:cNvPr>
          <p:cNvSpPr/>
          <p:nvPr/>
        </p:nvSpPr>
        <p:spPr>
          <a:xfrm>
            <a:off x="3965510" y="2681994"/>
            <a:ext cx="578498" cy="2519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21AA5801-6C86-B9AD-1C69-F681A1B87831}"/>
              </a:ext>
            </a:extLst>
          </p:cNvPr>
          <p:cNvSpPr/>
          <p:nvPr/>
        </p:nvSpPr>
        <p:spPr>
          <a:xfrm>
            <a:off x="4254758" y="3643044"/>
            <a:ext cx="578498" cy="2519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7A2D68C9-3386-A441-318D-774008BEA482}"/>
              </a:ext>
            </a:extLst>
          </p:cNvPr>
          <p:cNvSpPr txBox="1">
            <a:spLocks/>
          </p:cNvSpPr>
          <p:nvPr/>
        </p:nvSpPr>
        <p:spPr>
          <a:xfrm>
            <a:off x="4593334" y="2565454"/>
            <a:ext cx="5205612" cy="88323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classi </a:t>
            </a:r>
            <a:r>
              <a:rPr lang="it-IT" dirty="0" err="1"/>
              <a:t>python</a:t>
            </a:r>
            <a:r>
              <a:rPr lang="it-IT" dirty="0"/>
              <a:t> che simulano solo la fisica senza interessarsi di rete e protocolli  </a:t>
            </a:r>
          </a:p>
        </p:txBody>
      </p:sp>
      <p:sp>
        <p:nvSpPr>
          <p:cNvPr id="9" name="Segnaposto contenuto 3">
            <a:extLst>
              <a:ext uri="{FF2B5EF4-FFF2-40B4-BE49-F238E27FC236}">
                <a16:creationId xmlns:a16="http://schemas.microsoft.com/office/drawing/2014/main" id="{34CB9346-3DA1-E1EA-52B9-9041A3955DA0}"/>
              </a:ext>
            </a:extLst>
          </p:cNvPr>
          <p:cNvSpPr txBox="1">
            <a:spLocks/>
          </p:cNvSpPr>
          <p:nvPr/>
        </p:nvSpPr>
        <p:spPr>
          <a:xfrm>
            <a:off x="4833256" y="3574093"/>
            <a:ext cx="5205612" cy="883235"/>
          </a:xfrm>
          <a:prstGeom prst="rect">
            <a:avLst/>
          </a:prstGeom>
        </p:spPr>
        <p:txBody>
          <a:bodyPr vert="horz" lIns="45720" tIns="45720" rIns="4572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rendono gli smart </a:t>
            </a:r>
            <a:r>
              <a:rPr lang="it-IT" dirty="0" err="1"/>
              <a:t>object</a:t>
            </a:r>
            <a:r>
              <a:rPr lang="it-IT" dirty="0"/>
              <a:t> accessibili via rete, gestiscono richieste GET, PUT e POST e traducono numeri in formati standard (</a:t>
            </a:r>
            <a:r>
              <a:rPr lang="it-IT" dirty="0" err="1"/>
              <a:t>SenML</a:t>
            </a:r>
            <a:r>
              <a:rPr lang="it-IT" dirty="0"/>
              <a:t>/JSON)</a:t>
            </a:r>
          </a:p>
        </p:txBody>
      </p:sp>
    </p:spTree>
    <p:extLst>
      <p:ext uri="{BB962C8B-B14F-4D97-AF65-F5344CB8AC3E}">
        <p14:creationId xmlns:p14="http://schemas.microsoft.com/office/powerpoint/2010/main" val="1967359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D1179D-3F0D-D0C4-3079-A558A3CBA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Smart </a:t>
            </a:r>
            <a:r>
              <a:rPr lang="it-IT" dirty="0" err="1"/>
              <a:t>objects</a:t>
            </a:r>
            <a:endParaRPr lang="it-IT" dirty="0"/>
          </a:p>
        </p:txBody>
      </p:sp>
      <p:pic>
        <p:nvPicPr>
          <p:cNvPr id="7" name="Immagine 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E1F51D84-DD6D-E2BF-7F25-C162C3529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084832"/>
            <a:ext cx="7071973" cy="43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135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643F32-2991-AC31-CD50-A71449349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Resources</a:t>
            </a:r>
            <a:endParaRPr lang="it-IT" dirty="0"/>
          </a:p>
        </p:txBody>
      </p:sp>
      <p:pic>
        <p:nvPicPr>
          <p:cNvPr id="5" name="Immagine 4" descr="Immagine che contiene testo, schermata, menu, numero&#10;&#10;Il contenuto generato dall'IA potrebbe non essere corretto.">
            <a:extLst>
              <a:ext uri="{FF2B5EF4-FFF2-40B4-BE49-F238E27FC236}">
                <a16:creationId xmlns:a16="http://schemas.microsoft.com/office/drawing/2014/main" id="{A77FD91C-37E8-7741-18E6-B50D2BB41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7" y="1636377"/>
            <a:ext cx="6487015" cy="510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14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9DB716-6543-AC01-AD16-121B505C7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SMART WASTE MANAGER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7A75C3-0D11-0407-629A-FCF231075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42592"/>
            <a:ext cx="9720073" cy="4460033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Client autonomo esegue operazioni di: 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b="1" dirty="0"/>
              <a:t>Discovery</a:t>
            </a:r>
            <a:r>
              <a:rPr lang="it-IT" dirty="0"/>
              <a:t>: Client interroga /.</a:t>
            </a:r>
            <a:r>
              <a:rPr lang="it-IT" dirty="0" err="1"/>
              <a:t>well-known</a:t>
            </a:r>
            <a:r>
              <a:rPr lang="it-IT" dirty="0"/>
              <a:t>/core per scoprire dinamicamente le risorse disponibili e le loro capacità (</a:t>
            </a:r>
            <a:r>
              <a:rPr lang="it-IT" dirty="0" err="1"/>
              <a:t>rt</a:t>
            </a:r>
            <a:r>
              <a:rPr lang="it-IT" dirty="0"/>
              <a:t>, </a:t>
            </a:r>
            <a:r>
              <a:rPr lang="it-IT" dirty="0" err="1"/>
              <a:t>if</a:t>
            </a:r>
            <a:r>
              <a:rPr lang="it-IT" dirty="0"/>
              <a:t>).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it-IT" b="1" dirty="0" err="1"/>
              <a:t>Telemetry</a:t>
            </a:r>
            <a:r>
              <a:rPr lang="it-IT" dirty="0"/>
              <a:t>: Il Client stabilisce una relazione di </a:t>
            </a:r>
            <a:r>
              <a:rPr lang="it-IT" dirty="0" err="1"/>
              <a:t>Observe</a:t>
            </a:r>
            <a:r>
              <a:rPr lang="it-IT" dirty="0"/>
              <a:t> sulle risorse sensore (bin, </a:t>
            </a:r>
            <a:r>
              <a:rPr lang="it-IT" dirty="0" err="1"/>
              <a:t>turbidity</a:t>
            </a:r>
            <a:r>
              <a:rPr lang="it-IT" dirty="0"/>
              <a:t>, weight). Il Server notifica il Client in modo asincrono ad ogni cambiamento di stato fisico simulato.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it-IT" b="1" dirty="0" err="1"/>
              <a:t>Actuation</a:t>
            </a:r>
            <a:r>
              <a:rPr lang="it-IT" dirty="0"/>
              <a:t>:</a:t>
            </a:r>
          </a:p>
          <a:p>
            <a:pPr lvl="2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it-IT" sz="2200" b="1" dirty="0" err="1"/>
              <a:t>Threshold</a:t>
            </a:r>
            <a:r>
              <a:rPr lang="it-IT" sz="2200" b="1" dirty="0"/>
              <a:t> </a:t>
            </a:r>
            <a:r>
              <a:rPr lang="it-IT" sz="2200" b="1" dirty="0" err="1"/>
              <a:t>Activation</a:t>
            </a:r>
            <a:r>
              <a:rPr lang="it-IT" sz="2200" dirty="0"/>
              <a:t>: Se il valore supera una soglia (es. Bin &gt; 80%), il Manager invia una PUT {"status": "ON"} all'attuatore associato.</a:t>
            </a:r>
          </a:p>
          <a:p>
            <a:pPr lvl="2">
              <a:buClr>
                <a:srgbClr val="000000"/>
              </a:buClr>
            </a:pPr>
            <a:r>
              <a:rPr lang="it-IT" sz="2200" b="1" dirty="0"/>
              <a:t>Critical Reset</a:t>
            </a:r>
            <a:r>
              <a:rPr lang="it-IT" sz="2200" dirty="0"/>
              <a:t>: Se il valore è critico (es. Bin &gt; 95%), il Manager invia una POST direttamente al sensore per simulare un intervento manuale (es. svuotamento bidone).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375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8FA400-11AF-529C-8C72-893F41A16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Operazioni </a:t>
            </a:r>
            <a:r>
              <a:rPr lang="it-IT" dirty="0" err="1"/>
              <a:t>coap</a:t>
            </a:r>
            <a:r>
              <a:rPr lang="it-IT" dirty="0"/>
              <a:t> singole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548393-413D-8052-1E8A-8CBBB56AF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Per completezza sono presenti, nella cartella client/, gli script per testare singolarmente e manualmente operazioni </a:t>
            </a:r>
            <a:r>
              <a:rPr lang="it-IT" dirty="0" err="1"/>
              <a:t>CoAP</a:t>
            </a:r>
            <a:r>
              <a:rPr lang="it-IT" dirty="0"/>
              <a:t>:</a:t>
            </a:r>
          </a:p>
          <a:p>
            <a:endParaRPr lang="it-IT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8FC9EBAE-0DA8-25A8-6A6B-0CD87784D108}"/>
              </a:ext>
            </a:extLst>
          </p:cNvPr>
          <p:cNvSpPr txBox="1">
            <a:spLocks/>
          </p:cNvSpPr>
          <p:nvPr/>
        </p:nvSpPr>
        <p:spPr>
          <a:xfrm>
            <a:off x="1111215" y="3064546"/>
            <a:ext cx="3011205" cy="215515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it-IT" dirty="0"/>
              <a:t> coap_get_client.py  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it-IT" dirty="0"/>
              <a:t> coap_obs_get_client.py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it-IT" dirty="0"/>
              <a:t> coap_put_client.py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it-IT" dirty="0"/>
              <a:t> coap_post_client.py</a:t>
            </a:r>
          </a:p>
          <a:p>
            <a:endParaRPr lang="it-IT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8E41133F-8728-5A4D-60F5-A6DC60D028B6}"/>
              </a:ext>
            </a:extLst>
          </p:cNvPr>
          <p:cNvSpPr txBox="1">
            <a:spLocks/>
          </p:cNvSpPr>
          <p:nvPr/>
        </p:nvSpPr>
        <p:spPr>
          <a:xfrm>
            <a:off x="4122420" y="3081092"/>
            <a:ext cx="7787640" cy="469828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Legge il valore istantaneo di un sensore o lo stato di un attuatore</a:t>
            </a:r>
          </a:p>
          <a:p>
            <a:endParaRPr lang="it-IT" dirty="0"/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232A8028-2BA8-FD56-38BC-27D0F156A33A}"/>
              </a:ext>
            </a:extLst>
          </p:cNvPr>
          <p:cNvSpPr/>
          <p:nvPr/>
        </p:nvSpPr>
        <p:spPr>
          <a:xfrm>
            <a:off x="3543922" y="3177074"/>
            <a:ext cx="578498" cy="2519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4A7330DE-7EC2-F73C-6187-A4FC5DFD5EC5}"/>
              </a:ext>
            </a:extLst>
          </p:cNvPr>
          <p:cNvSpPr txBox="1">
            <a:spLocks/>
          </p:cNvSpPr>
          <p:nvPr/>
        </p:nvSpPr>
        <p:spPr>
          <a:xfrm>
            <a:off x="4039221" y="4062766"/>
            <a:ext cx="7787640" cy="469828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Invia un comando per modificare lo stato di un attuatore</a:t>
            </a: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2A2A228B-5C57-E723-86D6-9494222BE759}"/>
              </a:ext>
            </a:extLst>
          </p:cNvPr>
          <p:cNvSpPr/>
          <p:nvPr/>
        </p:nvSpPr>
        <p:spPr>
          <a:xfrm>
            <a:off x="4039221" y="3627213"/>
            <a:ext cx="578498" cy="2519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DF5A2610-BF03-9EC0-6A32-B8DCAB841B2A}"/>
              </a:ext>
            </a:extLst>
          </p:cNvPr>
          <p:cNvSpPr/>
          <p:nvPr/>
        </p:nvSpPr>
        <p:spPr>
          <a:xfrm>
            <a:off x="3502323" y="4126883"/>
            <a:ext cx="578498" cy="2519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AE7C1F29-390E-A726-A542-E54134F3BBC9}"/>
              </a:ext>
            </a:extLst>
          </p:cNvPr>
          <p:cNvSpPr txBox="1">
            <a:spLocks/>
          </p:cNvSpPr>
          <p:nvPr/>
        </p:nvSpPr>
        <p:spPr>
          <a:xfrm>
            <a:off x="4164098" y="4531288"/>
            <a:ext cx="7890742" cy="99321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Esegue un’azione senza stato come il reset di un sensore (es. svuotamento bidone)</a:t>
            </a:r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FC31D29B-99AC-CD8D-1EA2-5C230C2F4BBC}"/>
              </a:ext>
            </a:extLst>
          </p:cNvPr>
          <p:cNvSpPr/>
          <p:nvPr/>
        </p:nvSpPr>
        <p:spPr>
          <a:xfrm>
            <a:off x="3585600" y="4596711"/>
            <a:ext cx="578498" cy="2519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3DA87455-4D9D-2C27-46E0-220A78C7825B}"/>
              </a:ext>
            </a:extLst>
          </p:cNvPr>
          <p:cNvSpPr txBox="1">
            <a:spLocks/>
          </p:cNvSpPr>
          <p:nvPr/>
        </p:nvSpPr>
        <p:spPr>
          <a:xfrm>
            <a:off x="4557381" y="3581633"/>
            <a:ext cx="7139319" cy="469828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Ricezione di aggiornamenti in tempo reale senza polling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34685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FD976-6539-A40F-9EC5-0100D9AAA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8460E0-439A-B034-E108-758EE1F5E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it-IT" noProof="1"/>
              <a:t>Come mai Coap? Confronto con mqtt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E45062CE-C402-5311-86F5-9FB55AAC2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2"/>
            <a:ext cx="3034688" cy="4023360"/>
          </a:xfrm>
        </p:spPr>
        <p:txBody>
          <a:bodyPr/>
          <a:lstStyle/>
          <a:p>
            <a:r>
              <a:rPr lang="it-IT" b="1" dirty="0"/>
              <a:t>Controllo deterministico </a:t>
            </a:r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r>
              <a:rPr lang="it-IT" b="1" dirty="0"/>
              <a:t>Protocollo di trasporto</a:t>
            </a:r>
          </a:p>
          <a:p>
            <a:endParaRPr lang="it-IT" b="1" dirty="0"/>
          </a:p>
          <a:p>
            <a:pPr marL="0" indent="0">
              <a:buNone/>
            </a:pPr>
            <a:endParaRPr lang="it-IT" b="1" dirty="0"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81975E55-E9CA-020F-C715-BA9FF3325290}"/>
              </a:ext>
            </a:extLst>
          </p:cNvPr>
          <p:cNvSpPr/>
          <p:nvPr/>
        </p:nvSpPr>
        <p:spPr>
          <a:xfrm>
            <a:off x="4058816" y="2180659"/>
            <a:ext cx="578498" cy="2519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D52D7BDF-6854-4DF6-2AA5-DBF2B93CEFF3}"/>
              </a:ext>
            </a:extLst>
          </p:cNvPr>
          <p:cNvSpPr/>
          <p:nvPr/>
        </p:nvSpPr>
        <p:spPr>
          <a:xfrm>
            <a:off x="3819321" y="4583913"/>
            <a:ext cx="578498" cy="2519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Segnaposto contenuto 6">
            <a:extLst>
              <a:ext uri="{FF2B5EF4-FFF2-40B4-BE49-F238E27FC236}">
                <a16:creationId xmlns:a16="http://schemas.microsoft.com/office/drawing/2014/main" id="{959A5E05-5780-ECAE-7A16-455D8B9D7B2E}"/>
              </a:ext>
            </a:extLst>
          </p:cNvPr>
          <p:cNvSpPr txBox="1">
            <a:spLocks/>
          </p:cNvSpPr>
          <p:nvPr/>
        </p:nvSpPr>
        <p:spPr>
          <a:xfrm>
            <a:off x="4736822" y="2101411"/>
            <a:ext cx="6792727" cy="4023360"/>
          </a:xfrm>
          <a:prstGeom prst="rect">
            <a:avLst/>
          </a:prstGeom>
        </p:spPr>
        <p:txBody>
          <a:bodyPr vert="horz" lIns="45720" tIns="45720" rIns="4572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/>
              <a:t>CoAP</a:t>
            </a:r>
            <a:r>
              <a:rPr lang="it-IT" dirty="0"/>
              <a:t>: manager invia una PUT e il codice attende la conferma. Se c’è un problema viene subito segnalato.</a:t>
            </a:r>
          </a:p>
          <a:p>
            <a:r>
              <a:rPr lang="it-IT" dirty="0"/>
              <a:t>MQTT: manager pubblica un messaggio ON e non ha una conferma immediata che l’azione fisica sia avvenuta.</a:t>
            </a:r>
          </a:p>
          <a:p>
            <a:endParaRPr lang="it-IT" dirty="0"/>
          </a:p>
          <a:p>
            <a:endParaRPr lang="it-IT" dirty="0"/>
          </a:p>
          <a:p>
            <a:pPr marL="0" indent="0">
              <a:buNone/>
            </a:pPr>
            <a:r>
              <a:rPr lang="it-IT" dirty="0" err="1"/>
              <a:t>CoAP</a:t>
            </a:r>
            <a:r>
              <a:rPr lang="it-IT" dirty="0"/>
              <a:t>: usa UDP che è veloce a riprendersi da interruzioni di rete e consuma meno risorse su dispositivi embedded</a:t>
            </a:r>
          </a:p>
          <a:p>
            <a:r>
              <a:rPr lang="it-IT" dirty="0"/>
              <a:t>MQTT: usa TCP: che richiede di mantenere una connessione stabile, è più pesante e lento in caso di instabilità di connessione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21528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AD7BA-F5C5-44C9-BA9E-714A4EFF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A2AE30-2471-6382-025F-302DCA294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it-IT" noProof="1"/>
              <a:t>Come mai Coap? Confronto con mqtt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E7B0BC45-0434-EA47-E782-2714C13DF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2"/>
            <a:ext cx="3034688" cy="4023360"/>
          </a:xfrm>
        </p:spPr>
        <p:txBody>
          <a:bodyPr/>
          <a:lstStyle/>
          <a:p>
            <a:r>
              <a:rPr lang="it-IT" b="1" dirty="0"/>
              <a:t>Discovery Automatica </a:t>
            </a:r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r>
              <a:rPr lang="it-IT" b="1" dirty="0" err="1"/>
              <a:t>Observe</a:t>
            </a:r>
            <a:endParaRPr lang="it-IT" b="1" dirty="0"/>
          </a:p>
          <a:p>
            <a:endParaRPr lang="it-IT" b="1" dirty="0"/>
          </a:p>
          <a:p>
            <a:pPr marL="0" indent="0">
              <a:buNone/>
            </a:pPr>
            <a:endParaRPr lang="it-IT" b="1" dirty="0"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8BD9A4D6-3836-D9E8-7FE8-BE6FC29F78E7}"/>
              </a:ext>
            </a:extLst>
          </p:cNvPr>
          <p:cNvSpPr/>
          <p:nvPr/>
        </p:nvSpPr>
        <p:spPr>
          <a:xfrm>
            <a:off x="3819321" y="2190819"/>
            <a:ext cx="578498" cy="2519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2A89D022-9D5A-5B66-AA4A-48ACA18FCB2E}"/>
              </a:ext>
            </a:extLst>
          </p:cNvPr>
          <p:cNvSpPr/>
          <p:nvPr/>
        </p:nvSpPr>
        <p:spPr>
          <a:xfrm>
            <a:off x="2252223" y="4583913"/>
            <a:ext cx="578498" cy="25192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Segnaposto contenuto 6">
            <a:extLst>
              <a:ext uri="{FF2B5EF4-FFF2-40B4-BE49-F238E27FC236}">
                <a16:creationId xmlns:a16="http://schemas.microsoft.com/office/drawing/2014/main" id="{1A592F86-4F66-EBA8-3828-41F3CA477C7C}"/>
              </a:ext>
            </a:extLst>
          </p:cNvPr>
          <p:cNvSpPr txBox="1">
            <a:spLocks/>
          </p:cNvSpPr>
          <p:nvPr/>
        </p:nvSpPr>
        <p:spPr>
          <a:xfrm>
            <a:off x="4736822" y="2084832"/>
            <a:ext cx="6792727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  <a:p>
            <a:endParaRPr lang="it-IT" dirty="0"/>
          </a:p>
        </p:txBody>
      </p:sp>
      <p:sp>
        <p:nvSpPr>
          <p:cNvPr id="3" name="Segnaposto contenuto 6">
            <a:extLst>
              <a:ext uri="{FF2B5EF4-FFF2-40B4-BE49-F238E27FC236}">
                <a16:creationId xmlns:a16="http://schemas.microsoft.com/office/drawing/2014/main" id="{D3933258-A121-512C-A074-D33156FA9A5C}"/>
              </a:ext>
            </a:extLst>
          </p:cNvPr>
          <p:cNvSpPr txBox="1">
            <a:spLocks/>
          </p:cNvSpPr>
          <p:nvPr/>
        </p:nvSpPr>
        <p:spPr>
          <a:xfrm>
            <a:off x="4553941" y="2091251"/>
            <a:ext cx="6792727" cy="1499616"/>
          </a:xfrm>
          <a:prstGeom prst="rect">
            <a:avLst/>
          </a:prstGeom>
        </p:spPr>
        <p:txBody>
          <a:bodyPr vert="horz" lIns="45720" tIns="45720" rIns="4572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/>
              <a:t>CoAP</a:t>
            </a:r>
            <a:r>
              <a:rPr lang="it-IT" dirty="0"/>
              <a:t>: manager trova i dispositivi interrogando l’endpoint </a:t>
            </a:r>
            <a:r>
              <a:rPr lang="it-IT" dirty="0" err="1"/>
              <a:t>standart</a:t>
            </a:r>
            <a:r>
              <a:rPr lang="it-IT" dirty="0"/>
              <a:t> /.</a:t>
            </a:r>
            <a:r>
              <a:rPr lang="it-IT" dirty="0" err="1"/>
              <a:t>well-known</a:t>
            </a:r>
            <a:r>
              <a:rPr lang="it-IT" dirty="0"/>
              <a:t>/core</a:t>
            </a:r>
          </a:p>
          <a:p>
            <a:r>
              <a:rPr lang="it-IT" dirty="0"/>
              <a:t>MQTT: non ha un meccanismo standard di </a:t>
            </a:r>
            <a:r>
              <a:rPr lang="it-IT" dirty="0" err="1"/>
              <a:t>discovery</a:t>
            </a:r>
            <a:r>
              <a:rPr lang="it-IT" dirty="0"/>
              <a:t>. I </a:t>
            </a:r>
            <a:r>
              <a:rPr lang="it-IT" dirty="0" err="1"/>
              <a:t>topic</a:t>
            </a:r>
            <a:r>
              <a:rPr lang="it-IT" dirty="0"/>
              <a:t> devono essere conosciuti a priori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contenuto 6">
            <a:extLst>
              <a:ext uri="{FF2B5EF4-FFF2-40B4-BE49-F238E27FC236}">
                <a16:creationId xmlns:a16="http://schemas.microsoft.com/office/drawing/2014/main" id="{A709C4C9-ACAD-6D57-104D-43B27613EA15}"/>
              </a:ext>
            </a:extLst>
          </p:cNvPr>
          <p:cNvSpPr txBox="1">
            <a:spLocks/>
          </p:cNvSpPr>
          <p:nvPr/>
        </p:nvSpPr>
        <p:spPr>
          <a:xfrm>
            <a:off x="2928341" y="4440243"/>
            <a:ext cx="6792727" cy="1499616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/>
              <a:t>CoAP</a:t>
            </a:r>
            <a:r>
              <a:rPr lang="it-IT" dirty="0"/>
              <a:t>, grazie all’estensione </a:t>
            </a:r>
            <a:r>
              <a:rPr lang="it-IT" dirty="0" err="1"/>
              <a:t>Observe</a:t>
            </a:r>
            <a:r>
              <a:rPr lang="it-IT" dirty="0"/>
              <a:t>, non perde una delle qualità migliori di MQTT cioè la telemetria in tempo.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7880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A3052A-6911-6D71-3E41-819986E88045}"/>
              </a:ext>
            </a:extLst>
          </p:cNvPr>
          <p:cNvSpPr txBox="1">
            <a:spLocks/>
          </p:cNvSpPr>
          <p:nvPr/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noProof="1"/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AF0F0FA9-2673-0C24-C117-7ACA0CC9E003}"/>
              </a:ext>
            </a:extLst>
          </p:cNvPr>
          <p:cNvSpPr txBox="1">
            <a:spLocks/>
          </p:cNvSpPr>
          <p:nvPr/>
        </p:nvSpPr>
        <p:spPr>
          <a:xfrm>
            <a:off x="1024128" y="2084832"/>
            <a:ext cx="9720072" cy="820928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1"/>
              <a:t>GRAZIE PER L’ATTENZIONE</a:t>
            </a:r>
          </a:p>
        </p:txBody>
      </p:sp>
      <p:sp>
        <p:nvSpPr>
          <p:cNvPr id="4" name="Segnaposto contenuto 6">
            <a:extLst>
              <a:ext uri="{FF2B5EF4-FFF2-40B4-BE49-F238E27FC236}">
                <a16:creationId xmlns:a16="http://schemas.microsoft.com/office/drawing/2014/main" id="{D4FDA9E8-71F5-5E8B-AD6C-D03D79742F2F}"/>
              </a:ext>
            </a:extLst>
          </p:cNvPr>
          <p:cNvSpPr txBox="1">
            <a:spLocks/>
          </p:cNvSpPr>
          <p:nvPr/>
        </p:nvSpPr>
        <p:spPr>
          <a:xfrm>
            <a:off x="1024128" y="3046291"/>
            <a:ext cx="6792727" cy="1499616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Studente: Leonardo Diverti</a:t>
            </a:r>
          </a:p>
          <a:p>
            <a:r>
              <a:rPr lang="it-IT" dirty="0"/>
              <a:t>Matricola: 188742</a:t>
            </a:r>
          </a:p>
          <a:p>
            <a:r>
              <a:rPr lang="it-IT" dirty="0"/>
              <a:t>A.A: 2025-2026</a:t>
            </a:r>
          </a:p>
        </p:txBody>
      </p:sp>
    </p:spTree>
    <p:extLst>
      <p:ext uri="{BB962C8B-B14F-4D97-AF65-F5344CB8AC3E}">
        <p14:creationId xmlns:p14="http://schemas.microsoft.com/office/powerpoint/2010/main" val="12748772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e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5591_TF22378848.potx" id="{FB84F41F-4448-4F11-BE81-DA351851639F}" vid="{0BF0C845-FE40-4202-9FFA-3A0C1052C571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Modello integrale</Template>
  <TotalTime>134</TotalTime>
  <Words>594</Words>
  <Application>Microsoft Office PowerPoint</Application>
  <PresentationFormat>Widescreen</PresentationFormat>
  <Paragraphs>83</Paragraphs>
  <Slides>11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7" baseType="lpstr">
      <vt:lpstr>Arial</vt:lpstr>
      <vt:lpstr>Calibri</vt:lpstr>
      <vt:lpstr>Tw Cen MT</vt:lpstr>
      <vt:lpstr>Tw Cen MT Condensed</vt:lpstr>
      <vt:lpstr>Wingdings 3</vt:lpstr>
      <vt:lpstr>Integrale</vt:lpstr>
      <vt:lpstr>Smart Metal factory</vt:lpstr>
      <vt:lpstr>Scenario applicativo</vt:lpstr>
      <vt:lpstr>ARCHITETTURA</vt:lpstr>
      <vt:lpstr>Scelta di modellazione</vt:lpstr>
      <vt:lpstr>Smart objects</vt:lpstr>
      <vt:lpstr>Resources</vt:lpstr>
      <vt:lpstr>SMART WASTE MANAGER</vt:lpstr>
      <vt:lpstr>Operazioni coap singole</vt:lpstr>
      <vt:lpstr>Come mai Coap? Confronto con mqtt</vt:lpstr>
      <vt:lpstr>Come mai Coap? Confronto con mqtt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DIVERTI</dc:creator>
  <cp:lastModifiedBy>LEONARDO DIVERTI</cp:lastModifiedBy>
  <cp:revision>3</cp:revision>
  <dcterms:created xsi:type="dcterms:W3CDTF">2026-02-04T00:12:47Z</dcterms:created>
  <dcterms:modified xsi:type="dcterms:W3CDTF">2026-02-04T02:31:10Z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